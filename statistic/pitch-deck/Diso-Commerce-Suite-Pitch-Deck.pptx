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600" kern="0" dirty="0">
                <a:solidFill>
                  <a:srgbClr val="8AB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PHÁP KINH DOANH ONLINE TRỌN BỘ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Diso Commerce Suite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828800" y="301752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C0D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website bán hàng</a:t>
            </a:r>
            <a:endParaRPr lang="en-US" sz="2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C0D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đến đội ngũ bán hàng nghìn người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11680" y="4572000"/>
            <a:ext cx="1463040" cy="457200"/>
          </a:xfrm>
          <a:prstGeom prst="roundRect">
            <a:avLst>
              <a:gd name="adj" fmla="val 3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011680" y="4572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D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TMĐT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0" y="4572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9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0" y="4572000"/>
            <a:ext cx="1463040" cy="457200"/>
          </a:xfrm>
          <a:prstGeom prst="roundRect">
            <a:avLst>
              <a:gd name="adj" fmla="val 3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4572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D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Affiliate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0" y="4572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9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0" y="4572000"/>
            <a:ext cx="1463040" cy="457200"/>
          </a:xfrm>
          <a:prstGeom prst="roundRect">
            <a:avLst>
              <a:gd name="adj" fmla="val 3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4572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D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Vận hành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0" y="4572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9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0" y="4572000"/>
            <a:ext cx="1463040" cy="457200"/>
          </a:xfrm>
          <a:prstGeom prst="roundRect">
            <a:avLst>
              <a:gd name="adj" fmla="val 3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4572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D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Reseller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961120" y="4572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9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326880" y="4572000"/>
            <a:ext cx="1463040" cy="457200"/>
          </a:xfrm>
          <a:prstGeom prst="roundRect">
            <a:avLst>
              <a:gd name="adj" fmla="val 3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0" y="4572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D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Đại sứ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Kinh doanh online nghe dễ — làm thì khó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54864" cy="21945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630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"Muốn bán online nhưng không biết bắt đầu từ đâu"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Thuê dev làm website tốn 500 triệu – 2 tỷ, mất 6-12 tháng. Lên sàn thì phí 3-15% mỗi đơn, data khách không thuộc về mình.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128016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1280160"/>
            <a:ext cx="54864" cy="21945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14630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"Có website rồi nhưng không ai vào mua"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55080" y="219456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phí quảng cáo Facebook/Google ngày càng đắt. Chạy ads xong thì hết tiền, hết khách.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749040"/>
            <a:ext cx="54864" cy="21945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9319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"Đơn hàng nhiều lên, quản lý bằng Excel vỡ trận"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466344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soát vận chuyển sai, tính hoa hồng nhầm, kế toán khóc. 100 đơn/ngày là bắt đầu rối.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374904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3749040"/>
            <a:ext cx="54864" cy="21945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39319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"Muốn mở rộng nhưng không có cách"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466344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Tuyển sales tốn lương cứng. Mở đại lý thì không kiểm soát được. Affiliate thì không biết build hệ thống.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Diso Commerce Suite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Thị trường e-commerce &amp; affiliate Việt Nam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~28 tỷ USD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Thị trường TMĐT VN (2025)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Tăng trưởng ~20%/năm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206240" y="128016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0" y="14630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920.000+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206240" y="21945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SMEs tại Việt Nam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 tổng doanh nghiệp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955280" y="128016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0" y="14630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tỷ USD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955280" y="21945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Affiliate marketing VN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Tăng 30x so với 2022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6576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300.000+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KOL, KOC, affiliate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đang bán hàng online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06240" y="347472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0" y="36576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tỷ USD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206240" y="43891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commerce 2025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10 tỷ USD vào 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955280" y="347472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0" y="36576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 GMV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955280" y="43891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Tập trung Shopee + TikTok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 phụ thuộc nặng vào sàn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76072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E8F0FE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5760720"/>
            <a:ext cx="54864" cy="54864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7607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nghiệp cần giải pháp trọn bộ — không phải ghép 10 công cụ rời rạc lại với nhau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Diso Commerce Suite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Diso Commerce Suite — 1 nền tảng, 5 giải pháp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2011680" cy="2560320"/>
          </a:xfrm>
          <a:prstGeom prst="roundRect">
            <a:avLst>
              <a:gd name="adj" fmla="val 6818"/>
            </a:avLst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31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TMĐT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D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chỗ bán hàng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25603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0" y="1828800"/>
            <a:ext cx="2011680" cy="2560320"/>
          </a:xfrm>
          <a:prstGeom prst="roundRect">
            <a:avLst>
              <a:gd name="adj" fmla="val 6818"/>
            </a:avLst>
          </a:prstGeom>
          <a:solidFill>
            <a:srgbClr val="1A56D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21031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AFFILIATE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0" y="32004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D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khách mua hàng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25603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9200" y="1828800"/>
            <a:ext cx="2011680" cy="2560320"/>
          </a:xfrm>
          <a:prstGeom prst="roundRect">
            <a:avLst>
              <a:gd name="adj" fmla="val 6818"/>
            </a:avLst>
          </a:prstGeom>
          <a:solidFill>
            <a:srgbClr val="1A56D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21031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VẬN HÀNH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32004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D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trơn tru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40880" y="25603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0" y="1828800"/>
            <a:ext cx="2011680" cy="2560320"/>
          </a:xfrm>
          <a:prstGeom prst="roundRect">
            <a:avLst>
              <a:gd name="adj" fmla="val 6818"/>
            </a:avLst>
          </a:prstGeom>
          <a:solidFill>
            <a:srgbClr val="1A56D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21031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RESELLER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0" y="32004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D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rộng kênh bán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26880" y="25603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601200" y="1828800"/>
            <a:ext cx="2011680" cy="2560320"/>
          </a:xfrm>
          <a:prstGeom prst="roundRect">
            <a:avLst>
              <a:gd name="adj" fmla="val 6818"/>
            </a:avLst>
          </a:prstGeom>
          <a:solidFill>
            <a:srgbClr val="1A56DB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0" y="21031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ĐẠI SỨ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THƯƠNG HIỆU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0" y="32004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D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thương hiệu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502920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E8F0FE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5029200"/>
            <a:ext cx="54864" cy="54864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029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Mua từng phần hoặc trọn bộ — bắt đầu từ đâu cũng được, mở rộng bất cứ lúc nào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Diso Commerce Suite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22960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80160" cy="320040"/>
          </a:xfrm>
          <a:prstGeom prst="roundRect">
            <a:avLst>
              <a:gd name="adj" fmla="val 42857"/>
            </a:avLst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TRỤ CỘT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920240" y="182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bán hàng chuyên nghiệp — không cần biết code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E8F0F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Quản lý sản phẩm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SKU, giá, biến thể, ảnh sản phẩm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09728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E8F0FE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234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Giỏ hàng &amp; Thanh toán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1737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Mua hàng mượt mà, hỗ trợ COD &amp; online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55280" y="109728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E8F0FE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1234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Mã giảm giá &amp; Flash Sale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0" y="1737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promotion tăng chuyển đổi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E8F0F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Website thương hiệu riêng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7490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riêng, logo riêng, giao diện tùy chỉnh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06240" y="310896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E8F0FE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Tối ưu Mobile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0" y="37490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60%+ giao dịch TMĐT diễn ra trên điện thoại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55280" y="310896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E8F0FE"/>
          </a:solidFill>
          <a:ln/>
        </p:spPr>
      </p:sp>
      <p:sp>
        <p:nvSpPr>
          <p:cNvPr id="21" name="Text 19"/>
          <p:cNvSpPr/>
          <p:nvPr/>
        </p:nvSpPr>
        <p:spPr>
          <a:xfrm>
            <a:off x="8138160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Chuẩn SEO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38160" y="37490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tìm thấy bạn trên Google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30352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E8F0FE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5303520"/>
            <a:ext cx="54864" cy="6400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303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Triển khai trong 2 tuần. Website 100% thương hiệu của bạn — không phải "gian hàng trên sàn"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Diso Commerce Suite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80160" cy="320040"/>
          </a:xfrm>
          <a:prstGeom prst="roundRect">
            <a:avLst>
              <a:gd name="adj" fmla="val 42857"/>
            </a:avLst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TRỤ CỘT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920240" y="182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Kéo khách về website — không tốn tiền quảng cáo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E8F0F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Link Tracking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Biết chính xác ai mang khách về, bao nhiêu click, bao nhiêu đơn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09728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E8F0FE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234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Hoa hồng linh hoạt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1737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sản phẩm, theo tier, theo campaign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55280" y="109728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E8F0FE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1234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Dashboard cho Affiliate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0" y="1737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theo dõi hiệu quả, thu nhập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E8F0F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Promotion Tools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7490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Banner, link, mã giảm giá riêng cho từng affiliate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06240" y="310896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E8F0FE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Phân nhóm &amp; Targeting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0" y="37490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Gửi đúng campaign cho đúng affiliate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55280" y="310896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E8F0FE"/>
          </a:solidFill>
          <a:ln/>
        </p:spPr>
      </p:sp>
      <p:sp>
        <p:nvSpPr>
          <p:cNvPr id="21" name="Text 19"/>
          <p:cNvSpPr/>
          <p:nvPr/>
        </p:nvSpPr>
        <p:spPr>
          <a:xfrm>
            <a:off x="8138160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Chống gian lận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38160" y="37490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động phát hiện click/đơn ảo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30352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E8F0FE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5303520"/>
            <a:ext cx="54864" cy="6400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303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Biến blogger, KOL, và bất kỳ ai có mạng xã hội thành kênh bán hàng. Chỉ trả tiền khi có đơn.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Diso Commerce Suite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80160" cy="320040"/>
          </a:xfrm>
          <a:prstGeom prst="roundRect">
            <a:avLst>
              <a:gd name="adj" fmla="val 42857"/>
            </a:avLst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TRỤ CỘT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920240" y="182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đơn hàng đến giao hàng — tự động hóa toàn bộ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394960" cy="3840480"/>
          </a:xfrm>
          <a:prstGeom prst="roundRect">
            <a:avLst>
              <a:gd name="adj" fmla="val 2381"/>
            </a:avLst>
          </a:prstGeom>
          <a:solidFill>
            <a:srgbClr val="E8F0F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Quản lý đơn hàng &amp; Logistics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Quản lý đơn tập trung — 1 nơi xem tất cả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Tích hợp GHN, GHTK, Viettel Post, J&amp;T — tạo vận đơn 1 click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Quản lý tồn kho — cảnh báo hết hàng tự động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Đổi trả hàng — quy trình chuyên nghiệp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097280"/>
            <a:ext cx="5394960" cy="3840480"/>
          </a:xfrm>
          <a:prstGeom prst="roundRect">
            <a:avLst>
              <a:gd name="adj" fmla="val 2381"/>
            </a:avLst>
          </a:prstGeom>
          <a:solidFill>
            <a:srgbClr val="E8F0FE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2801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Tài chính &amp; Quản trị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182880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Đối soát tự động 4 loại: đơn hàng, affiliate, reseller, đại sứ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Chi trả hoa hồng tự động, tính thuế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CRM khách hàng — chăm sóc, tái mua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Analytics real-time &amp; Admin portal phân quyền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530352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E8F0FE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5303520"/>
            <a:ext cx="54864" cy="54864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3035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Vận hành như doanh nghiệp lớn — chi phí doanh nghiệp nhỏ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Diso Commerce Suite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80160" cy="320040"/>
          </a:xfrm>
          <a:prstGeom prst="roundRect">
            <a:avLst>
              <a:gd name="adj" fmla="val 42857"/>
            </a:avLst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TRỤ CỘT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920240" y="182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 người bán hàng cho bạn — bạn chỉ cần quản lý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E8F0F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🏪 Reseller Storefront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reseller có "shop" riêng trên platform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09728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E8F0FE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234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Quản lý đội ngũ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1737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Duyệt, theo dõi, đánh giá reseller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55280" y="109728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E8F0FE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1234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💎 Hoa hồng đa cấp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0" y="1737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Thưởng theo doanh số, incentive linh hoạt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E8F0F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Mã giới thiệu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7490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Đội ngũ tự phát triển qua referral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06240" y="310896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E8F0FE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Dashboard cho Reseller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0" y="37490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xem đơn, thu nhập, minh bạch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55280" y="310896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E8F0FE"/>
          </a:solidFill>
          <a:ln/>
        </p:spPr>
      </p:sp>
      <p:sp>
        <p:nvSpPr>
          <p:cNvPr id="21" name="Text 19"/>
          <p:cNvSpPr/>
          <p:nvPr/>
        </p:nvSpPr>
        <p:spPr>
          <a:xfrm>
            <a:off x="8138160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Gamification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38160" y="37490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xếp hạng, nhiệm vụ, đổi quà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30352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E8F0FE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5303520"/>
            <a:ext cx="54864" cy="6400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303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tốn lương cứng. Reseller bán được thì bạn mới trả hoa hồng. Scale không giới hạn.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Diso Commerce Suite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80160" cy="320040"/>
          </a:xfrm>
          <a:prstGeom prst="roundRect">
            <a:avLst>
              <a:gd name="adj" fmla="val 42857"/>
            </a:avLst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TRỤ CỘT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920240" y="182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marketing hiệu quả — đo lường được từng đồng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E8F0F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Campaign content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chiến dịch theo brief, điều kiện tham gia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09728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E8F0FE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234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7 mạng xã hội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1737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TikTok, YouTube, Facebook, Instagram, Threads, Shopee, Google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55280" y="109728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E8F0FE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1234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Duyệt nội dung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0" y="1737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chất lượng, hashtag, batch approve/reject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E8F0F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Analytics chi tiết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7490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Views, likes, comments, engagement rate hàng ngày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06240" y="310896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E8F0FE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Chống gian lận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0" y="37490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hiện fake views, fake followers tự động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55280" y="310896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E8F0FE"/>
          </a:solidFill>
          <a:ln/>
        </p:spPr>
      </p:sp>
      <p:sp>
        <p:nvSpPr>
          <p:cNvPr id="21" name="Text 19"/>
          <p:cNvSpPr/>
          <p:nvPr/>
        </p:nvSpPr>
        <p:spPr>
          <a:xfrm>
            <a:off x="8138160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Thưởng theo hiệu quả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38160" y="37490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loại: theo thống kê, milestone, views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30352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E8F0FE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5303520"/>
            <a:ext cx="54864" cy="6400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303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Đại sứ tạo content → Brand nhận diện → Khách tin tưởng → Doanh thu tăng.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Vòng lặp tăng trưởng bền vững.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Diso Commerce Suite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Được tin dùng bởi các thương hiệu hàng đầu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Ngân hàng &amp; Fintech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280160" y="1645920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6459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TPBank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645920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6459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HDBank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0" y="1645920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16459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VPBank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0" y="1645920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0" y="16459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MBBank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326880" y="1645920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0" y="16459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VNPay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&amp; Entertainment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10896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089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06040" y="310896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/>
        </p:spPr>
      </p:sp>
      <p:sp>
        <p:nvSpPr>
          <p:cNvPr id="18" name="Text 16"/>
          <p:cNvSpPr/>
          <p:nvPr/>
        </p:nvSpPr>
        <p:spPr>
          <a:xfrm>
            <a:off x="2606040" y="31089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Yody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89120" y="310896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0" y="31089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310896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31089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Flamingo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955280" y="310896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/>
        </p:spPr>
      </p:sp>
      <p:sp>
        <p:nvSpPr>
          <p:cNvPr id="24" name="Text 22"/>
          <p:cNvSpPr/>
          <p:nvPr/>
        </p:nvSpPr>
        <p:spPr>
          <a:xfrm>
            <a:off x="7955280" y="31089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Turborg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738360" y="310896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/>
        </p:spPr>
      </p:sp>
      <p:sp>
        <p:nvSpPr>
          <p:cNvPr id="26" name="Text 24"/>
          <p:cNvSpPr/>
          <p:nvPr/>
        </p:nvSpPr>
        <p:spPr>
          <a:xfrm>
            <a:off x="9738360" y="31089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 Rift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3891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11+ thương hiệu  ·  6 ngành  ·  7 nền tảng social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6576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Diso Commerce Suite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22960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này đã được chứng minh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1371600" cy="320040"/>
          </a:xfrm>
          <a:prstGeom prst="roundRect">
            <a:avLst>
              <a:gd name="adj" fmla="val 34286"/>
            </a:avLst>
          </a:prstGeom>
          <a:solidFill>
            <a:srgbClr val="E8F0F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🇻🇳 Việt Nam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Coolmate — D2C Thời trang nam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Bán chủ yếu qua website riêng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thu: 139 tỷ VND, tăng 3.5x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Sở hữu toàn bộ data khách hàng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18872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1371600"/>
            <a:ext cx="1371600" cy="320040"/>
          </a:xfrm>
          <a:prstGeom prst="roundRect">
            <a:avLst>
              <a:gd name="adj" fmla="val 34286"/>
            </a:avLst>
          </a:prstGeom>
          <a:solidFill>
            <a:srgbClr val="E8F0FE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371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🇬🇧 Quốc tế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80560" y="18288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Gymshark — Từ $500K đến £1 tỷ+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0560" y="24688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D2C qua website riêng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Ambassador Instagram → ROI 6.6x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→ unicorn nhờ own-platform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118872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21040" y="1371600"/>
            <a:ext cx="1371600" cy="320040"/>
          </a:xfrm>
          <a:prstGeom prst="roundRect">
            <a:avLst>
              <a:gd name="adj" fmla="val 34286"/>
            </a:avLst>
          </a:prstGeom>
          <a:solidFill>
            <a:srgbClr val="E8F0FE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1371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🇮🇳 Ấn Độ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21040" y="18288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Meesho — Nền tảng Reseller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21040" y="24688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 triệu người dùng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IPO valuation: $600 triệu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Reseller network scale cực lớn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530352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E8F0FE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5303520"/>
            <a:ext cx="54864" cy="6400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303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Own-platform + đội quân bán hàng = công thức tỷ đô. Diso giúp bạn áp dụng — ngay tại Việt Nam.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Diso Commerce Suite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2960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xong, bạn được gì?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E8F0F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Tháng 1-3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nền móng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4688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riêng + thanh toán + vận chuyển tự động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Đơn hàng đầu tiên trên kênh riêng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Tháng 3-6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Kích hoạt đội quân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4688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50-100 affiliate + 20-50 reseller có storefront riêng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Chi phí/đơn giảm 40-60%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BFDBFE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Tháng 6-12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Vòng lặp tăng trưởng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24688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200-500 affiliate + reseller. CRM 10.000+ khách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Kênh riêng = 30-50% doanh thu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98280" y="128016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1A56DB"/>
          </a:solidFill>
          <a:ln/>
        </p:spPr>
      </p:sp>
      <p:sp>
        <p:nvSpPr>
          <p:cNvPr id="19" name="Text 17"/>
          <p:cNvSpPr/>
          <p:nvPr/>
        </p:nvSpPr>
        <p:spPr>
          <a:xfrm>
            <a:off x="909828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Năm 2-3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3544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Nền tảng vững chắc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35440" y="24688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0D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1.000+ người bán. Database 50K-100K+ khách hàng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3544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Kênh riêng 50-70% DT. Margin +15-30%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30352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E8F0FE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5303520"/>
            <a:ext cx="54864" cy="6400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303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Đó không phải phần mềm. Đó là tài sản.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6576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Diso Commerce Suite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 Diso Commerce Suite?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320040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Tự Build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Bán trên Sàn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Diso Commerce Suite 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Chi phí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1-2 tỷ VND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"Miễn phí" + 3-15%/đơn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56DB"/>
                          </a:solidFill>
                        </a:rPr>
                        <a:t>Phí SaaS hàng tháng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Thời gian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6-12 tháng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Ngay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56DB"/>
                          </a:solidFill>
                        </a:rPr>
                        <a:t>2-4 tuần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Thương hiệu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Của bạn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Của sàn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56DB"/>
                          </a:solidFill>
                        </a:rPr>
                        <a:t>Của bạn (white-label)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Data khách hàng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Của bạn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Của sàn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56DB"/>
                          </a:solidFill>
                        </a:rPr>
                        <a:t>Của bạn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Affiliate + Reseller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Tự build thêm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Không có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56DB"/>
                          </a:solidFill>
                        </a:rPr>
                        <a:t>Built-in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Đối soát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Tự build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Sàn quyết định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56DB"/>
                          </a:solidFill>
                        </a:rPr>
                        <a:t>4 loại tự động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Rủi ro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Team nghỉ = dừng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Sàn đổi policy = mất kênh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56DB"/>
                          </a:solidFill>
                        </a:rPr>
                        <a:t>Diso maintain &amp; upgrade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502920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5029200"/>
            <a:ext cx="54864" cy="73152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50292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Bán trên sàn = xây nhà trên đất thuê.  Tự build = đắt và lâu.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Diso = website riêng, data riêng, triển khai nhanh.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Diso Commerce Suite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22960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Bắt đầu chỉ với 3 bước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3200400" cy="27432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103120" y="1920240"/>
            <a:ext cx="548640" cy="54864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5" name="Text 3"/>
          <p:cNvSpPr/>
          <p:nvPr/>
        </p:nvSpPr>
        <p:spPr>
          <a:xfrm>
            <a:off x="210312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651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miễn phí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3200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trực tiếp platform hoạt động, hỏi đáp cùng team Diso. 30 phút.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645920"/>
            <a:ext cx="3200400" cy="27432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760720" y="1920240"/>
            <a:ext cx="548640" cy="54864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2651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1-2 tháng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3200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thử với 1 chiến dịch thực tế, đánh giá hiệu quả.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1645920"/>
            <a:ext cx="3200400" cy="27432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418320" y="1920240"/>
            <a:ext cx="548640" cy="54864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15" name="Text 13"/>
          <p:cNvSpPr/>
          <p:nvPr/>
        </p:nvSpPr>
        <p:spPr>
          <a:xfrm>
            <a:off x="941832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2651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live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03920" y="3200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Triển khai chính thức, đội ngũ Diso hỗ trợ onboarding toàn bộ.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0" y="4846320"/>
            <a:ext cx="4846320" cy="731520"/>
          </a:xfrm>
          <a:prstGeom prst="roundRect">
            <a:avLst>
              <a:gd name="adj" fmla="val 15000"/>
            </a:avLst>
          </a:prstGeom>
          <a:solidFill>
            <a:srgbClr val="F97316"/>
          </a:solidFill>
          <a:ln/>
          <a:effectLst>
            <a:outerShdw sx="100000" sy="100000" kx="0" ky="0" algn="bl" rotWithShape="0" blurRad="101600" dist="38100" dir="16200000">
              <a:srgbClr val="f97316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0" y="48463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Đặt lịch demo ngay 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B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cam kết · Không phí · Chỉ cần 30 phút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Diso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Diso Commerce Suite - Pitch Deck</dc:title>
  <dc:subject>Pitch Deck</dc:subject>
  <dc:creator>Diso</dc:creator>
  <cp:lastModifiedBy>Diso</cp:lastModifiedBy>
  <cp:revision>1</cp:revision>
  <dcterms:created xsi:type="dcterms:W3CDTF">2026-03-10T11:24:59Z</dcterms:created>
  <dcterms:modified xsi:type="dcterms:W3CDTF">2026-03-10T11:24:59Z</dcterms:modified>
</cp:coreProperties>
</file>